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400" b="1">
                <a:solidFill>
                  <a:srgbClr val="FFFFFF"/>
                </a:solidFill>
              </a:defRPr>
            </a:pPr>
            <a:r>
              <a:t>Research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800">
                <a:solidFill>
                  <a:srgbClr val="6F95FF"/>
                </a:solidFill>
              </a:defRPr>
            </a:pPr>
            <a:r>
              <a:t>Kolkata Cluster + NCBS Bangalore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2743200" cy="38100"/>
          </a:xfrm>
          <a:prstGeom prst="rect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93A0AE"/>
                </a:solidFill>
              </a:defRPr>
            </a:pPr>
            <a:r>
              <a:t>DPCN Course Project 2026  ·  Group 23  ·  Statistics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0BACA"/>
                </a:solidFill>
              </a:defRPr>
            </a:pPr>
            <a:r>
              <a:t>Institutions:  SN Bose National Centre, Bose Institute Kolkata, SINP Kolkata, NCBS Bangalore</a:t>
            </a:r>
          </a:p>
          <a:p>
            <a:pPr>
              <a:spcAft>
                <a:spcPts val="400"/>
              </a:spcAft>
              <a:defRPr sz="1500">
                <a:solidFill>
                  <a:srgbClr val="B0BACA"/>
                </a:solidFill>
              </a:defRPr>
            </a:pPr>
            <a:r>
              <a:t>10,801 papers  ·  255,613 citations  ·  1,343 faculty/authors</a:t>
            </a:r>
          </a:p>
          <a:p>
            <a:pPr>
              <a:spcAft>
                <a:spcPts val="400"/>
              </a:spcAft>
              <a:defRPr sz="1500">
                <a:solidFill>
                  <a:srgbClr val="B0BACA"/>
                </a:solidFill>
              </a:defRPr>
            </a:pPr>
            <a:r>
              <a:t>Data source: OpenAlex  ·  Period: 2016–2026</a:t>
            </a:r>
          </a:p>
          <a:p>
            <a:pPr>
              <a:spcAft>
                <a:spcPts val="400"/>
              </a:spcAft>
              <a:defRPr sz="1500">
                <a:solidFill>
                  <a:srgbClr val="B0BACA"/>
                </a:solidFill>
              </a:defRPr>
            </a:pPr>
            <a:r>
              <a:t>Instructor: Chittaranjan Hens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77840"/>
            <a:ext cx="2103120" cy="868680"/>
          </a:xfrm>
          <a:prstGeom prst="roundRect">
            <a:avLst/>
          </a:prstGeom>
          <a:solidFill>
            <a:srgbClr val="1A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10,801</a:t>
            </a:r>
          </a:p>
          <a:p>
            <a:pPr algn="ctr">
              <a:defRPr sz="1000">
                <a:solidFill>
                  <a:srgbClr val="6F95FF"/>
                </a:solidFill>
              </a:defRPr>
            </a:pPr>
            <a:r>
              <a:t>Papers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39" y="5577840"/>
            <a:ext cx="2103120" cy="868680"/>
          </a:xfrm>
          <a:prstGeom prst="roundRect">
            <a:avLst/>
          </a:prstGeom>
          <a:solidFill>
            <a:srgbClr val="1A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255,613</a:t>
            </a:r>
          </a:p>
          <a:p>
            <a:pPr algn="ctr">
              <a:defRPr sz="1000">
                <a:solidFill>
                  <a:srgbClr val="6F95FF"/>
                </a:solidFill>
              </a:defRPr>
            </a:pPr>
            <a:r>
              <a:t>Citations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59" y="5577840"/>
            <a:ext cx="2103120" cy="868680"/>
          </a:xfrm>
          <a:prstGeom prst="roundRect">
            <a:avLst/>
          </a:prstGeom>
          <a:solidFill>
            <a:srgbClr val="1A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1,343</a:t>
            </a:r>
          </a:p>
          <a:p>
            <a:pPr algn="ctr">
              <a:defRPr sz="1000">
                <a:solidFill>
                  <a:srgbClr val="6F95FF"/>
                </a:solidFill>
              </a:defRPr>
            </a:pPr>
            <a:r>
              <a:t>Faculty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5577840"/>
            <a:ext cx="2103120" cy="868680"/>
          </a:xfrm>
          <a:prstGeom prst="roundRect">
            <a:avLst/>
          </a:prstGeom>
          <a:solidFill>
            <a:srgbClr val="1A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61.4%</a:t>
            </a:r>
          </a:p>
          <a:p>
            <a:pPr algn="ctr">
              <a:defRPr sz="1000">
                <a:solidFill>
                  <a:srgbClr val="6F95FF"/>
                </a:solidFill>
              </a:defRPr>
            </a:pPr>
            <a:r>
              <a:t>Q1 Fraction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0" y="5577840"/>
            <a:ext cx="2103120" cy="868680"/>
          </a:xfrm>
          <a:prstGeom prst="roundRect">
            <a:avLst/>
          </a:prstGeom>
          <a:solidFill>
            <a:srgbClr val="1A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21.0</a:t>
            </a:r>
          </a:p>
          <a:p>
            <a:pPr algn="ctr">
              <a:defRPr sz="1000">
                <a:solidFill>
                  <a:srgbClr val="6F95FF"/>
                </a:solidFill>
              </a:defRPr>
            </a:pPr>
            <a:r>
              <a:t>Median h-index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07E"/>
                </a:solidFill>
              </a:defRPr>
            </a:pPr>
            <a:r>
              <a:t>DPCN Course 2026  ·  Group 23  ·  Kolkata Cluster + NCBS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07E"/>
                </a:solidFill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</a:defRPr>
            </a:pPr>
            <a:r>
              <a:t>Publication Trend 2016–2026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64707E"/>
                </a:solidFill>
              </a:defRPr>
            </a:pPr>
            <a:r>
              <a:t>10,801 papers total  ·  SINP Kolkata leads with 4,094 papers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07E"/>
                </a:solidFill>
              </a:defRPr>
            </a:pPr>
            <a:r>
              <a:t>DPCN Course 2026  ·  Group 23  ·  Kolkata Cluster + NCBS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07E"/>
                </a:solidFill>
              </a:defRPr>
            </a:pPr>
            <a:r>
              <a:t>2 / 10</a:t>
            </a:r>
          </a:p>
        </p:txBody>
      </p:sp>
      <p:pic>
        <p:nvPicPr>
          <p:cNvPr id="7" name="Picture 6" descr="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37170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SN Bose National Centre:  2,553 papers,  42,081 citations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Bose Institute Kolkata:  2,362 papers,  54,325 citations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SINP Kolkata:  4,094 papers,  102,935 citations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NCBS Bangalore:  2,315 papers,  71,017 citations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Note: 2025–26 counts may be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incomplete (indexing lag).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</a:defRPr>
            </a:pPr>
            <a:r>
              <a:t>Journal Quartile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64707E"/>
                </a:solidFill>
              </a:defRPr>
            </a:pPr>
            <a:r>
              <a:t>Q1 fraction = Q1 papers / journal papers with a known quartile  ·  Overall Q1 = 61.4%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07E"/>
                </a:solidFill>
              </a:defRPr>
            </a:pPr>
            <a:r>
              <a:t>DPCN Course 2026  ·  Group 23  ·  Kolkata Cluster + NCBS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07E"/>
                </a:solidFill>
              </a:defRPr>
            </a:pPr>
            <a:r>
              <a:t>3 / 10</a:t>
            </a:r>
          </a:p>
        </p:txBody>
      </p:sp>
      <p:pic>
        <p:nvPicPr>
          <p:cNvPr id="7" name="Picture 6" descr="qu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37370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SN Bose National Centre:  Q1 = 60.7%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Bose Institute Kolkata:  Q1 = 53.7%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SINP Kolkata:  Q1 = 71.1%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NCBS Bangalore:  Q1 = 56.9%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Source: Scimago Journal Rankings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(curated ISSN → quartile mapping)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</a:defRPr>
            </a:pPr>
            <a:r>
              <a:t>h-index Distribution of Faculty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64707E"/>
                </a:solidFill>
              </a:defRPr>
            </a:pPr>
            <a:r>
              <a:t>Median h-index: 21.0  ·  Faculty = authors with 5+ papers  ·  h-index is career-wide (OpenAlex)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07E"/>
                </a:solidFill>
              </a:defRPr>
            </a:pPr>
            <a:r>
              <a:t>DPCN Course 2026  ·  Group 23  ·  Kolkata Cluster + NCBS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07E"/>
                </a:solidFill>
              </a:defRPr>
            </a:pPr>
            <a:r>
              <a:t>4 / 10</a:t>
            </a:r>
          </a:p>
        </p:txBody>
      </p:sp>
      <p:pic>
        <p:nvPicPr>
          <p:cNvPr id="7" name="Picture 6" descr="hid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37423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SN Bose National Centre:  median h = 21.0,  296 faculty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Bose Institute Kolkata:  median h = 23.0,  360 faculty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SINP Kolkata:  median h = 17.0,  471 faculty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NCBS Bangalore:  median h = 22.5,  222 faculty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Top 3 by h-index: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  Debasish Das (119)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  Suchandra Dutta (117)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  Subir Sarkar (106)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64707E"/>
                </a:solidFill>
              </a:defRPr>
            </a:pPr>
            <a:r>
              <a:t>Note: OpenAlex may merge authors with similar names (e.g. "S. Das"), inflating some h-index values.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</a:defRPr>
            </a:pPr>
            <a:r>
              <a:t>Top Journals &amp; Most-Cited Papers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64707E"/>
                </a:solidFill>
              </a:defRPr>
            </a:pPr>
            <a:r>
              <a:t>Where each institution publishes most  ·  Highest citation counts across all four institutions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07E"/>
                </a:solidFill>
              </a:defRPr>
            </a:pPr>
            <a:r>
              <a:t>DPCN Course 2026  ·  Group 23  ·  Kolkata Cluster + NCBS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07E"/>
                </a:solidFill>
              </a:defRPr>
            </a:pPr>
            <a:r>
              <a:t>5 /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548640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931920"/>
                <a:gridCol w="731520"/>
              </a:tblGrid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Inst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Top Journal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Physical Review 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162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Physical Review A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93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Monthly Notices of the Royal Astronomi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68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Physical Review 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62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Physical Review 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62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Bose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Journal of High Energy Physics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The European Physical Journal 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70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Physical Review C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64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Physical Review Letters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51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Physical Review A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44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554480"/>
          <a:ext cx="548640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931920"/>
                <a:gridCol w="731520"/>
              </a:tblGrid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Inst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Top Journal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SINP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Journal of High Energy Physics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541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Physical Review D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289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The European Physical Journal 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204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Physical Review C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189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Physical Review Letters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182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NCBS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eLife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66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Zootaxa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63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Nature Communications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56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Scientific Reports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52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Proceedings of the National Academy of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47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572000"/>
          <a:ext cx="1060704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2560320"/>
                <a:gridCol w="914400"/>
                <a:gridCol w="914400"/>
              </a:tblGrid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Title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Journal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Year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Cites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The repertoire of mutational signatures in human cancer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Nature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2020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3,861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Pan-cancer analysis of whole genomes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Nature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2020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3,363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Guidelines for the use and interpretation of assays for moni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Autophagy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2021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2,742</a:t>
                      </a:r>
                    </a:p>
                  </a:txBody>
                  <a:tcPr anchor="ctr"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‘Green’ synthesis of metals and their oxide nanoparticles: a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Journal of Nanobiotechno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2018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2,713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The mystery of membrane organization: composition, regulatio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Nature Reviews Molecular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2,244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64707E"/>
                </a:solidFill>
              </a:defRPr>
            </a:pPr>
            <a:r>
              <a:t>Full top-10 list available in the interactive dashboard.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</a:defRPr>
            </a:pPr>
            <a:r>
              <a:t>Research Area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64707E"/>
                </a:solidFill>
              </a:defRPr>
            </a:pPr>
            <a:r>
              <a:t>Primary OpenAlex field of each paper  ·  Physics dominates across all four institutions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07E"/>
                </a:solidFill>
              </a:defRPr>
            </a:pPr>
            <a:r>
              <a:t>DPCN Course 2026  ·  Group 23  ·  Kolkata Cluster + NCBS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07E"/>
                </a:solidFill>
              </a:defRPr>
            </a:pPr>
            <a:r>
              <a:t>6 / 10</a:t>
            </a:r>
          </a:p>
        </p:txBody>
      </p:sp>
      <p:pic>
        <p:nvPicPr>
          <p:cNvPr id="7" name="Picture 6" descr="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391496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5544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Physics and Astronomy:  3781 (35%)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Biochemistry, Genetics and Molecular Biology:  1822 (16%)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Materials Science:  1314 (12%)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Medicine:  731 (6%)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Engineering:  626 (5%)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Environmental Science:  570 (5%)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Agricultural and Biological Sciences:  462 (4%)</a:t>
            </a:r>
          </a:p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▸ Chemistry:  391 (3%)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</a:defRPr>
            </a:pPr>
            <a:r>
              <a:t>Citation Network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64707E"/>
                </a:solidFill>
              </a:defRPr>
            </a:pPr>
            <a:r>
              <a:t>10,801 papers  ·  24,410 citation edges inside the group's corpus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07E"/>
                </a:solidFill>
              </a:defRPr>
            </a:pPr>
            <a:r>
              <a:t>DPCN Course 2026  ·  Group 23  ·  Kolkata Cluster + NCBS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07E"/>
                </a:solidFill>
              </a:defRPr>
            </a:pPr>
            <a:r>
              <a:t>7 / 10</a:t>
            </a:r>
          </a:p>
        </p:txBody>
      </p:sp>
      <p:pic>
        <p:nvPicPr>
          <p:cNvPr id="7" name="Picture 6" descr="ind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303520" cy="285633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554480"/>
          <a:ext cx="5760720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22960"/>
                <a:gridCol w="822960"/>
                <a:gridCol w="914400"/>
              </a:tblGrid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PageRank Top Papers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Inst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In-deg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Event generator tunes obtained from underlyi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SINP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0.00966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428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The CMS trigger system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SINP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0.00627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500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Structural anomaly and dynamic heterogeneity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0.00459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15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Jet energy scale and resolution in the CMS 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SINP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0.00411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375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Particle-flow reconstruction and global even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SINP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0.00383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472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Acridine‐Functionalized Covalent Organic Fra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SN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0.00282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Dielectric relaxation in ionic liquid/dipola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0.00259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6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Quantum Scars from Zero Modes in an Abelian 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SINP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0.00214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14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5029200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926080"/>
                <a:gridCol w="2286000"/>
              </a:tblGrid>
              <a:tr h="256032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Institution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Papers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Internal edges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Isolated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SN Bose National Centre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2553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5,014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547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Bose Institute Kolkata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2362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4,340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605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SINP Kolkata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4094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12,980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834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NCBS Bangalore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2315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2,863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785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</a:defRPr>
            </a:pPr>
            <a:r>
              <a:t>Authorship Network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64707E"/>
                </a:solidFill>
              </a:defRPr>
            </a:pPr>
            <a:r>
              <a:t>4,874 authors  ·  18,547 co-author links  ·  186 Louvain communities (modularity 0.896)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07E"/>
                </a:solidFill>
              </a:defRPr>
            </a:pPr>
            <a:r>
              <a:t>DPCN Course 2026  ·  Group 23  ·  Kolkata Cluster + NCBS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07E"/>
                </a:solidFill>
              </a:defRPr>
            </a:pPr>
            <a:r>
              <a:t>8 /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5486400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371600"/>
                <a:gridCol w="1005840"/>
              </a:tblGrid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Most Collaborative (Degree)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Inst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Collab.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Biswarup Satpati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SINP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156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Kuladip Jana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Bose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138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Samir Kumar Pal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108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Ramanathan Sowdhamini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NCBS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Dulal Senapati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SINP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100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Uma Ramakrishnan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NCBS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93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H. Weick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SINP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89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Subhrangsu Chatterjee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Bose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84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554480"/>
          <a:ext cx="5486400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371600"/>
                <a:gridCol w="1005840"/>
              </a:tblGrid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Key Brokers (Betweenness)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Inst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Dimple Notani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NCBS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0.1850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Dulal Senapati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SINP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0.1652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Biswarup Satpati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SINP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0.0963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Samir Kumar Pal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SN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0.0745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Kuladip Jana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Bose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0.0502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Awadhesh Pandit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NCBS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0.0491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Ramanathan Sowdhamini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NCBS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0.0476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Uma Ramakrishnan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NCBS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0.0409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114800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828800"/>
                <a:gridCol w="1645920"/>
                <a:gridCol w="1463040"/>
                <a:gridCol w="1828800"/>
              </a:tblGrid>
              <a:tr h="256032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Institution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Authors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Co-author links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Communities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Modularity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Largest group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SN Bose National Centre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983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2,748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0.82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803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Bose Institute Kolkata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1140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4,612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51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0.827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979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SINP Kolkata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1280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5,994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0.822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987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NCBS Bangalore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1560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4,674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88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0.882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1092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64707E"/>
                </a:solidFill>
              </a:defRPr>
            </a:pPr>
            <a:r>
              <a:t>Cross-institution links: 1,026  ·  Papers with &gt;100 authors excluded from co-author pairs (1450 papers)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</a:defRPr>
            </a:pPr>
            <a:r>
              <a:t>Indian Connectivity &amp; Citation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64707E"/>
                </a:solidFill>
              </a:defRPr>
            </a:pPr>
            <a:r>
              <a:t>How the group sits in the wider Indian research network  ·  in-flow vs out-flow of citations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07E"/>
                </a:solidFill>
              </a:defRPr>
            </a:pPr>
            <a:r>
              <a:t>DPCN Course 2026  ·  Group 23  ·  Kolkata Cluster + NCBS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07E"/>
                </a:solidFill>
              </a:defRPr>
            </a:pPr>
            <a:r>
              <a:t>9 / 10</a:t>
            </a:r>
          </a:p>
        </p:txBody>
      </p:sp>
      <p:pic>
        <p:nvPicPr>
          <p:cNvPr id="7" name="Picture 6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217920" cy="333884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0" y="1645920"/>
          <a:ext cx="4663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860"/>
                <a:gridCol w="1165860"/>
                <a:gridCol w="1165860"/>
                <a:gridCol w="1165860"/>
              </a:tblGrid>
              <a:tr h="274320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Institution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In-flow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Out-flow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SN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13,328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13,932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0.96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Bose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15,510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17,112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0.91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SINP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22,642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28,704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0.79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NCBS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11,693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9,640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1000"/>
                      </a:pPr>
                      <a:r>
                        <a:t>1.21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0" y="3200400"/>
          <a:ext cx="4663440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005840"/>
              </a:tblGrid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Top Indian Institutes Citing Us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200"/>
                        </a:spcBef>
                        <a:spcAft>
                          <a:spcPts val="200"/>
                        </a:spcAft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Cites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Homi Bhabha National Institute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7,340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Tata Institute of Fundamental Research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5,073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Variable Energy Cyclotron Centre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3,159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Indian Institute of Technology Bombay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2,591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Aligarh Muslim University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2,462</a:t>
                      </a:r>
                    </a:p>
                  </a:txBody>
                  <a:tcPr anchor="ctr"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Indian Institute of Science Bangalore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100"/>
                        </a:spcBef>
                        <a:spcAft>
                          <a:spcPts val="100"/>
                        </a:spcAft>
                        <a:defRPr sz="900"/>
                      </a:pPr>
                      <a:r>
                        <a:t>2,294</a:t>
                      </a:r>
                    </a:p>
                  </a:txBody>
                  <a:tcPr anchor="ctr">
                    <a:solidFill>
                      <a:srgbClr val="F0F3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64707E"/>
                </a:solidFill>
              </a:defRPr>
            </a:pPr>
            <a:r>
              <a:t>Total in-flow: 58,396  ·  Total out-flow: 62,972  ·  In/Out ratio: 0.93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07E"/>
                </a:solidFill>
              </a:defRPr>
            </a:pPr>
            <a:r>
              <a:t>DPCN Course 2026  ·  Group 23  ·  Kolkata Cluster + NCBS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07E"/>
                </a:solidFill>
              </a:defRPr>
            </a:pPr>
            <a:r>
              <a:t>10 / 10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280160"/>
            <a:ext cx="365760" cy="365760"/>
          </a:xfrm>
          <a:prstGeom prst="ellipse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2618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10,801 papers across 4 institutions (2016–2026), totalling 255,613 citations.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20239"/>
            <a:ext cx="365760" cy="365760"/>
          </a:xfrm>
          <a:prstGeom prst="ellipse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901951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SINP Kolkata is the largest contributor (4,094 papers, 102,935 citations).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560320"/>
            <a:ext cx="365760" cy="365760"/>
          </a:xfrm>
          <a:prstGeom prst="ellipse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420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Overall Q1 fraction: 61.4% — SINP leads at 71.1.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200399"/>
            <a:ext cx="365760" cy="365760"/>
          </a:xfrm>
          <a:prstGeom prst="ellipse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182111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Top journal: Journal of High Energy Physics (574 papers) — reflecting the strong HEP presence at SINP and Bose Institute.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40479"/>
            <a:ext cx="365760" cy="365760"/>
          </a:xfrm>
          <a:prstGeom prst="ellipse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22191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Citation network: 24,410 internal citation links; highest PageRank paper is "Event generator tunes obtained from underlying event an…"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480560"/>
            <a:ext cx="365760" cy="365760"/>
          </a:xfrm>
          <a:prstGeom prst="ellipse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622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Authorship network: 186 collaboration communities (modularity 0.896), with 1,026 cross-institution links.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120640"/>
            <a:ext cx="365760" cy="365760"/>
          </a:xfrm>
          <a:prstGeom prst="ellipse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1023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NCBS Bangalore has the highest citation in-flow ratio (1.21), indicating strong external impact.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5760719"/>
            <a:ext cx="365760" cy="365760"/>
          </a:xfrm>
          <a:prstGeom prst="ellipse">
            <a:avLst/>
          </a:prstGeom>
          <a:solidFill>
            <a:srgbClr val="2A5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742431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430"/>
                </a:solidFill>
              </a:defRPr>
            </a:pPr>
            <a:r>
              <a:t>Most-cited paper: "The repertoire of mutational signatures in human cancer…" (3,861 citations).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